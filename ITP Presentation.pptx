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7b71cade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97b71cade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Open with the outcome: the churn model is no longer only a notebook result.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work now supports exploration, live scoring and a cloud-backed reporting workflow.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C:/Users/Lockheed/Desktop/GitHub/churn-prediction/body_converted_with_adrian.tex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C:/Users/Lockheed/Desktop/GitHub/churn-prediction/ITP Weekly Report.pdf</a:t>
            </a:r>
            <a:endParaRPr/>
          </a:p>
        </p:txBody>
      </p:sp>
      <p:sp>
        <p:nvSpPr>
          <p:cNvPr id="55" name="Google Shape;55;g3f97b71cade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97b71cade_2_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g3f97b71cade_2_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Explain that each page has a different job instead of repeating the same charts.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sequence supports customer lookup, scenario testing, driver analysis and population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C:/Users/Lockheed/Desktop/GitHub/churn-prediction/body_converted_with_adrian.tex (dashboard structure)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C:/Users/Lockheed/Desktop/GitHub/churn-prediction/Churn Report.pbix</a:t>
            </a:r>
            <a:endParaRPr/>
          </a:p>
        </p:txBody>
      </p:sp>
      <p:sp>
        <p:nvSpPr>
          <p:cNvPr id="63" name="Google Shape;63;g3f97b71cade_2_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97b71cade_2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g3f97b71cade_2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Stress that the dashboard represents the real customer population because no rows were removed.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helper fields simplify Power BI visuals without changing the underlying information.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C:/Users/Lockheed/Desktop/GitHub/churn-prediction/Telco_Churn_PowerBI_CLEANING_README.md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C:/Users/Lockheed/Desktop/GitHub/churn-prediction/WA_Fn-UseC_-Telco-Customer-Churn.csv</a:t>
            </a:r>
            <a:endParaRPr/>
          </a:p>
        </p:txBody>
      </p:sp>
      <p:sp>
        <p:nvSpPr>
          <p:cNvPr id="79" name="Google Shape;79;g3f97b71cade_2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7b71cade_2_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g3f97b71cade_2_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Describe the table as an audit trail: every chart can be traced back to customer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slicers support fast segmentation without writing a new query for each question.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C:/Users/Lockheed/Desktop/GitHub/churn-prediction/ITP Weekly Report.pdf (Power BI Churn Report screenshot)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C:/Users/Lockheed/Desktop/GitHub/churn-prediction/body_converted_with_adrian.tex</a:t>
            </a:r>
            <a:endParaRPr/>
          </a:p>
        </p:txBody>
      </p:sp>
      <p:sp>
        <p:nvSpPr>
          <p:cNvPr id="96" name="Google Shape;96;g3f97b71cade_2_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7b71cade_2_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f97b71cade_2_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Emphasise that the published report does not need Python at runtime because the model equation is expressed in DAX.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six-feature surrogate retained strong discrimination while remaining simple enough for interactive What-If controls.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C:/Users/Lockheed/Desktop/GitHub/churn-prediction/Churn_Predictor_PowerBI_Guide.md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C:/Users/Lockheed/Desktop/GitHub/churn-prediction/model_params.json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C:/Users/Lockheed/Desktop/GitHub/churn-prediction/ITP Weekly Report.pdf (Risk Scorer screenshot)</a:t>
            </a:r>
            <a:endParaRPr/>
          </a:p>
        </p:txBody>
      </p:sp>
      <p:sp>
        <p:nvSpPr>
          <p:cNvPr id="106" name="Google Shape;106;g3f97b71cade_2_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7b71cade_2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f97b71cade_2_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Frame the migration as a workflow improvement, not only a technology change.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central database makes the report portable, gives the schema consistent types and creates a clearer path to managed refresh and access control.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C:/Users/Lockheed/Desktop/GitHub/churn-prediction/sql_scripts/create_table.sql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C:/Users/Lockheed/Desktop/GitHub/churn-prediction/body_converted_with_adrian.tex (Azure SQL migration)</a:t>
            </a:r>
            <a:endParaRPr/>
          </a:p>
        </p:txBody>
      </p:sp>
      <p:sp>
        <p:nvSpPr>
          <p:cNvPr id="116" name="Google Shape;116;g3f97b71cade_2_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295251" y="1304092"/>
            <a:ext cx="7086600" cy="18685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4500"/>
              <a:buFont typeface="Arial"/>
              <a:buNone/>
            </a:pPr>
            <a:r>
              <a:rPr b="1" lang="en" sz="4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Churn Prediction</a:t>
            </a:r>
            <a:br>
              <a:rPr b="1" lang="en" sz="4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4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made usable</a:t>
            </a:r>
            <a:endParaRPr sz="1100"/>
          </a:p>
        </p:txBody>
      </p:sp>
      <p:sp>
        <p:nvSpPr>
          <p:cNvPr id="58" name="Google Shape;58;p15"/>
          <p:cNvSpPr/>
          <p:nvPr/>
        </p:nvSpPr>
        <p:spPr>
          <a:xfrm>
            <a:off x="295251" y="3556659"/>
            <a:ext cx="4276749" cy="81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36176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Power BI Dashboard + Azure SQL Database</a:t>
            </a:r>
            <a:br>
              <a:rPr lang="en" sz="16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Adrian Liew (2302729)</a:t>
            </a:r>
            <a:endParaRPr sz="1600">
              <a:solidFill>
                <a:srgbClr val="5361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295251" y="294180"/>
            <a:ext cx="4276749" cy="486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ITP PROJECT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8459486" y="4709446"/>
            <a:ext cx="389192" cy="1809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617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66" name="Google Shape;66;p16"/>
          <p:cNvSpPr/>
          <p:nvPr/>
        </p:nvSpPr>
        <p:spPr>
          <a:xfrm>
            <a:off x="295251" y="258032"/>
            <a:ext cx="8553426" cy="785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 four-page report makes the model usable</a:t>
            </a:r>
            <a:endParaRPr sz="1100"/>
          </a:p>
        </p:txBody>
      </p:sp>
      <p:sp>
        <p:nvSpPr>
          <p:cNvPr id="67" name="Google Shape;67;p16"/>
          <p:cNvSpPr/>
          <p:nvPr/>
        </p:nvSpPr>
        <p:spPr>
          <a:xfrm>
            <a:off x="5229225" y="1781151"/>
            <a:ext cx="361952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Churn Report - searchable customer records and slicers</a:t>
            </a:r>
            <a:endParaRPr sz="1100"/>
          </a:p>
        </p:txBody>
      </p:sp>
      <p:sp>
        <p:nvSpPr>
          <p:cNvPr id="68" name="Google Shape;68;p16"/>
          <p:cNvSpPr/>
          <p:nvPr/>
        </p:nvSpPr>
        <p:spPr>
          <a:xfrm>
            <a:off x="3638526" y="1781151"/>
            <a:ext cx="14001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 sz="1100"/>
          </a:p>
        </p:txBody>
      </p:sp>
      <p:sp>
        <p:nvSpPr>
          <p:cNvPr id="69" name="Google Shape;69;p16"/>
          <p:cNvSpPr/>
          <p:nvPr/>
        </p:nvSpPr>
        <p:spPr>
          <a:xfrm>
            <a:off x="5229225" y="2524101"/>
            <a:ext cx="361952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Churn Risk Scorer - six inputs and a live probability</a:t>
            </a:r>
            <a:endParaRPr sz="1100"/>
          </a:p>
        </p:txBody>
      </p:sp>
      <p:sp>
        <p:nvSpPr>
          <p:cNvPr id="70" name="Google Shape;70;p16"/>
          <p:cNvSpPr/>
          <p:nvPr/>
        </p:nvSpPr>
        <p:spPr>
          <a:xfrm>
            <a:off x="3638526" y="2524101"/>
            <a:ext cx="14001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C811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F2C811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sz="1100"/>
          </a:p>
        </p:txBody>
      </p:sp>
      <p:sp>
        <p:nvSpPr>
          <p:cNvPr id="71" name="Google Shape;71;p16"/>
          <p:cNvSpPr/>
          <p:nvPr/>
        </p:nvSpPr>
        <p:spPr>
          <a:xfrm>
            <a:off x="5229225" y="3267051"/>
            <a:ext cx="361952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Churn Drivers - comparative charts for key risk factors</a:t>
            </a:r>
            <a:endParaRPr sz="1100"/>
          </a:p>
        </p:txBody>
      </p:sp>
      <p:sp>
        <p:nvSpPr>
          <p:cNvPr id="72" name="Google Shape;72;p16"/>
          <p:cNvSpPr/>
          <p:nvPr/>
        </p:nvSpPr>
        <p:spPr>
          <a:xfrm>
            <a:off x="3638526" y="3267051"/>
            <a:ext cx="14001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97A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597A5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sz="1100"/>
          </a:p>
        </p:txBody>
      </p:sp>
      <p:sp>
        <p:nvSpPr>
          <p:cNvPr id="73" name="Google Shape;73;p16"/>
          <p:cNvSpPr/>
          <p:nvPr/>
        </p:nvSpPr>
        <p:spPr>
          <a:xfrm>
            <a:off x="5229225" y="4019574"/>
            <a:ext cx="361952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Customer Demographics - context on the customer base</a:t>
            </a:r>
            <a:endParaRPr sz="1100"/>
          </a:p>
        </p:txBody>
      </p:sp>
      <p:sp>
        <p:nvSpPr>
          <p:cNvPr id="74" name="Google Shape;74;p16"/>
          <p:cNvSpPr/>
          <p:nvPr/>
        </p:nvSpPr>
        <p:spPr>
          <a:xfrm>
            <a:off x="3638526" y="4019574"/>
            <a:ext cx="14001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endParaRPr sz="1100"/>
          </a:p>
        </p:txBody>
      </p:sp>
      <p:sp>
        <p:nvSpPr>
          <p:cNvPr id="75" name="Google Shape;75;p16"/>
          <p:cNvSpPr/>
          <p:nvPr/>
        </p:nvSpPr>
        <p:spPr>
          <a:xfrm>
            <a:off x="295251" y="1781151"/>
            <a:ext cx="2676549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One report, four levels of understanding</a:t>
            </a:r>
            <a:endParaRPr sz="1100"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536176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The report moves from customer detail to prediction, then explains the patterns behind churn.</a:t>
            </a:r>
            <a:endParaRPr sz="1100"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536176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This makes the modelling work understandable to people who do not use Python.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295251" y="2266926"/>
            <a:ext cx="2676549" cy="2228850"/>
          </a:xfrm>
          <a:prstGeom prst="roundRect">
            <a:avLst>
              <a:gd fmla="val 256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233762" y="2266926"/>
            <a:ext cx="2676549" cy="2228850"/>
          </a:xfrm>
          <a:prstGeom prst="roundRect">
            <a:avLst>
              <a:gd fmla="val 256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6174200" y="2266926"/>
            <a:ext cx="2676549" cy="2228850"/>
          </a:xfrm>
          <a:prstGeom prst="roundRect">
            <a:avLst>
              <a:gd fmla="val 256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8459486" y="4709446"/>
            <a:ext cx="389192" cy="1809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617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85" name="Google Shape;85;p17"/>
          <p:cNvSpPr/>
          <p:nvPr/>
        </p:nvSpPr>
        <p:spPr>
          <a:xfrm>
            <a:off x="295251" y="258032"/>
            <a:ext cx="8553426" cy="785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The reporting data stayed trustworthy</a:t>
            </a:r>
            <a:endParaRPr sz="1100"/>
          </a:p>
        </p:txBody>
      </p:sp>
      <p:sp>
        <p:nvSpPr>
          <p:cNvPr id="86" name="Google Shape;86;p17"/>
          <p:cNvSpPr/>
          <p:nvPr/>
        </p:nvSpPr>
        <p:spPr>
          <a:xfrm>
            <a:off x="526781" y="3675460"/>
            <a:ext cx="221220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customer rows retained</a:t>
            </a:r>
            <a:endParaRPr sz="1100"/>
          </a:p>
        </p:txBody>
      </p:sp>
      <p:sp>
        <p:nvSpPr>
          <p:cNvPr id="87" name="Google Shape;87;p17"/>
          <p:cNvSpPr/>
          <p:nvPr/>
        </p:nvSpPr>
        <p:spPr>
          <a:xfrm>
            <a:off x="6406373" y="3675460"/>
            <a:ext cx="221220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rows dropped or duplicated</a:t>
            </a:r>
            <a:endParaRPr sz="1100"/>
          </a:p>
        </p:txBody>
      </p:sp>
      <p:sp>
        <p:nvSpPr>
          <p:cNvPr id="88" name="Google Shape;88;p17"/>
          <p:cNvSpPr/>
          <p:nvPr/>
        </p:nvSpPr>
        <p:spPr>
          <a:xfrm>
            <a:off x="3465933" y="3675460"/>
            <a:ext cx="221220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natural churn rate preserved</a:t>
            </a:r>
            <a:endParaRPr sz="1100"/>
          </a:p>
        </p:txBody>
      </p:sp>
      <p:sp>
        <p:nvSpPr>
          <p:cNvPr id="89" name="Google Shape;89;p17"/>
          <p:cNvSpPr/>
          <p:nvPr/>
        </p:nvSpPr>
        <p:spPr>
          <a:xfrm>
            <a:off x="526781" y="2571750"/>
            <a:ext cx="2205062" cy="10194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7,043</a:t>
            </a:r>
            <a:endParaRPr sz="1100"/>
          </a:p>
        </p:txBody>
      </p:sp>
      <p:sp>
        <p:nvSpPr>
          <p:cNvPr id="90" name="Google Shape;90;p17"/>
          <p:cNvSpPr/>
          <p:nvPr/>
        </p:nvSpPr>
        <p:spPr>
          <a:xfrm>
            <a:off x="3459718" y="2571750"/>
            <a:ext cx="2205062" cy="10194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C811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F2C811"/>
                </a:solidFill>
                <a:latin typeface="Arial"/>
                <a:ea typeface="Arial"/>
                <a:cs typeface="Arial"/>
                <a:sym typeface="Arial"/>
              </a:rPr>
              <a:t>26.54%</a:t>
            </a:r>
            <a:endParaRPr sz="1100"/>
          </a:p>
        </p:txBody>
      </p:sp>
      <p:sp>
        <p:nvSpPr>
          <p:cNvPr id="91" name="Google Shape;91;p17"/>
          <p:cNvSpPr/>
          <p:nvPr/>
        </p:nvSpPr>
        <p:spPr>
          <a:xfrm>
            <a:off x="6421803" y="2571750"/>
            <a:ext cx="2205062" cy="10194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97A5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1597A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/>
          </a:p>
        </p:txBody>
      </p:sp>
      <p:sp>
        <p:nvSpPr>
          <p:cNvPr id="92" name="Google Shape;92;p17"/>
          <p:cNvSpPr/>
          <p:nvPr/>
        </p:nvSpPr>
        <p:spPr>
          <a:xfrm>
            <a:off x="295251" y="853750"/>
            <a:ext cx="8553426" cy="119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Clean reporting model</a:t>
            </a:r>
            <a:endParaRPr sz="1100"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Clr>
                <a:srgbClr val="536176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11 blank TotalCharges values fixed for zero-tenure customers and added four helper fields for clearer filtering and aggregation.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8459486" y="4709446"/>
            <a:ext cx="389192" cy="1809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617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99" name="Google Shape;99;p18"/>
          <p:cNvSpPr/>
          <p:nvPr/>
        </p:nvSpPr>
        <p:spPr>
          <a:xfrm>
            <a:off x="295251" y="258032"/>
            <a:ext cx="8553426" cy="785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Explore churn in Power BI</a:t>
            </a:r>
            <a:endParaRPr sz="1100"/>
          </a:p>
        </p:txBody>
      </p:sp>
      <p:sp>
        <p:nvSpPr>
          <p:cNvPr id="100" name="Google Shape;100;p18"/>
          <p:cNvSpPr/>
          <p:nvPr/>
        </p:nvSpPr>
        <p:spPr>
          <a:xfrm>
            <a:off x="4701802" y="297323"/>
            <a:ext cx="4154805" cy="4201526"/>
          </a:xfrm>
          <a:prstGeom prst="roundRect">
            <a:avLst>
              <a:gd fmla="val 1376" name="adj"/>
            </a:avLst>
          </a:prstGeom>
          <a:solidFill>
            <a:srgbClr val="EAF5FB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295251" y="1523976"/>
            <a:ext cx="4152876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Why a table and slicers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536176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A customer-level table keeps the analysis auditable. Slicers for churn, contract, tenure and charges let users narrow the population instantly and inspect the exact records behind a pattern.</a:t>
            </a:r>
            <a:endParaRPr sz="1100"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802" y="1228343"/>
            <a:ext cx="4154805" cy="2339484"/>
          </a:xfrm>
          <a:prstGeom prst="roundRect">
            <a:avLst>
              <a:gd fmla="val 275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8459486" y="4709446"/>
            <a:ext cx="389192" cy="1809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617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109" name="Google Shape;109;p19"/>
          <p:cNvSpPr/>
          <p:nvPr/>
        </p:nvSpPr>
        <p:spPr>
          <a:xfrm>
            <a:off x="295251" y="258032"/>
            <a:ext cx="8553426" cy="785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Explainable live scoring</a:t>
            </a:r>
            <a:endParaRPr sz="1100"/>
          </a:p>
        </p:txBody>
      </p:sp>
      <p:sp>
        <p:nvSpPr>
          <p:cNvPr id="110" name="Google Shape;110;p19"/>
          <p:cNvSpPr/>
          <p:nvPr/>
        </p:nvSpPr>
        <p:spPr>
          <a:xfrm>
            <a:off x="4701802" y="297323"/>
            <a:ext cx="4154805" cy="4201526"/>
          </a:xfrm>
          <a:prstGeom prst="roundRect">
            <a:avLst>
              <a:gd fmla="val 1376" name="adj"/>
            </a:avLst>
          </a:prstGeom>
          <a:solidFill>
            <a:srgbClr val="EAF5FB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295251" y="1523976"/>
            <a:ext cx="4152876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Why this design works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36176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Six SHAP-selected inputs feed a logistic equation written in DAX. The gauge communicates probability, the risk band simplifies interpretation, and the contribution bars show which selected features push risk up or down.</a:t>
            </a:r>
            <a:b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Held-out AUC: 0.8362</a:t>
            </a:r>
            <a:endParaRPr sz="1100"/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802" y="1231850"/>
            <a:ext cx="4154805" cy="2332470"/>
          </a:xfrm>
          <a:prstGeom prst="roundRect">
            <a:avLst>
              <a:gd fmla="val 275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8459486" y="4709446"/>
            <a:ext cx="389192" cy="1809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617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119" name="Google Shape;119;p20"/>
          <p:cNvSpPr/>
          <p:nvPr/>
        </p:nvSpPr>
        <p:spPr>
          <a:xfrm>
            <a:off x="295251" y="258032"/>
            <a:ext cx="8553426" cy="785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Azure SQL removed the local-file bottleneck</a:t>
            </a:r>
            <a:endParaRPr sz="1100"/>
          </a:p>
        </p:txBody>
      </p:sp>
      <p:cxnSp>
        <p:nvCxnSpPr>
          <p:cNvPr id="120" name="Google Shape;120;p20"/>
          <p:cNvCxnSpPr/>
          <p:nvPr/>
        </p:nvCxnSpPr>
        <p:spPr>
          <a:xfrm>
            <a:off x="253318" y="2530316"/>
            <a:ext cx="9184076" cy="21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0"/>
          <p:cNvSpPr/>
          <p:nvPr/>
        </p:nvSpPr>
        <p:spPr>
          <a:xfrm>
            <a:off x="253318" y="2490169"/>
            <a:ext cx="80296" cy="8029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3188827" y="2490169"/>
            <a:ext cx="80296" cy="8029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6132052" y="2490169"/>
            <a:ext cx="80296" cy="8029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295251" y="2132481"/>
            <a:ext cx="1209651" cy="196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6176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sz="1100"/>
          </a:p>
        </p:txBody>
      </p:sp>
      <p:sp>
        <p:nvSpPr>
          <p:cNvPr id="125" name="Google Shape;125;p20"/>
          <p:cNvSpPr/>
          <p:nvPr/>
        </p:nvSpPr>
        <p:spPr>
          <a:xfrm>
            <a:off x="3220617" y="2132481"/>
            <a:ext cx="1209651" cy="196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MIGRATION</a:t>
            </a:r>
            <a:endParaRPr sz="1100"/>
          </a:p>
        </p:txBody>
      </p:sp>
      <p:sp>
        <p:nvSpPr>
          <p:cNvPr id="126" name="Google Shape;126;p20"/>
          <p:cNvSpPr/>
          <p:nvPr/>
        </p:nvSpPr>
        <p:spPr>
          <a:xfrm>
            <a:off x="6167414" y="2132481"/>
            <a:ext cx="1209651" cy="196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97A5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597A5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sz="1100"/>
          </a:p>
        </p:txBody>
      </p:sp>
      <p:sp>
        <p:nvSpPr>
          <p:cNvPr id="127" name="Google Shape;127;p20"/>
          <p:cNvSpPr/>
          <p:nvPr/>
        </p:nvSpPr>
        <p:spPr>
          <a:xfrm>
            <a:off x="3237833" y="2867001"/>
            <a:ext cx="2367082" cy="1189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Typed Azure table</a:t>
            </a:r>
            <a:endParaRPr sz="1100"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536176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Created dbo.telco_churn with a customerID primary key and explicit data types.</a:t>
            </a:r>
            <a:endParaRPr sz="1100"/>
          </a:p>
        </p:txBody>
      </p:sp>
      <p:sp>
        <p:nvSpPr>
          <p:cNvPr id="128" name="Google Shape;128;p20"/>
          <p:cNvSpPr/>
          <p:nvPr/>
        </p:nvSpPr>
        <p:spPr>
          <a:xfrm>
            <a:off x="299894" y="2867001"/>
            <a:ext cx="2367082" cy="1189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Local CSV</a:t>
            </a:r>
            <a:endParaRPr sz="1100"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536176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Refresh depended on a file stored on one analyst's machine.</a:t>
            </a:r>
            <a:endParaRPr sz="1100"/>
          </a:p>
        </p:txBody>
      </p:sp>
      <p:sp>
        <p:nvSpPr>
          <p:cNvPr id="129" name="Google Shape;129;p20"/>
          <p:cNvSpPr/>
          <p:nvPr/>
        </p:nvSpPr>
        <p:spPr>
          <a:xfrm>
            <a:off x="6133409" y="2867001"/>
            <a:ext cx="2367082" cy="1189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97A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597A5"/>
                </a:solidFill>
                <a:latin typeface="Arial"/>
                <a:ea typeface="Arial"/>
                <a:cs typeface="Arial"/>
                <a:sym typeface="Arial"/>
              </a:rPr>
              <a:t>Cloud-backed report</a:t>
            </a:r>
            <a:endParaRPr sz="1100"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536176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536176"/>
                </a:solidFill>
                <a:latin typeface="Arial"/>
                <a:ea typeface="Arial"/>
                <a:cs typeface="Arial"/>
                <a:sym typeface="Arial"/>
              </a:rPr>
              <a:t>Power BI now uses a central, refreshable source; credentials stay outside source control.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